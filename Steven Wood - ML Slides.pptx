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d4d1b48a7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d4d1b48a7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d4d1b48a7_0_8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d4d1b48a7_0_8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d4d1b48a7_0_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d4d1b48a7_0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The dataset provides </a:t>
            </a:r>
            <a:r>
              <a:rPr b="1" lang="en">
                <a:solidFill>
                  <a:schemeClr val="dk1"/>
                </a:solidFill>
              </a:rPr>
              <a:t>gene expression data only. 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1800"/>
              <a:buAutoNum type="alphaLcPeriod"/>
            </a:pPr>
            <a:r>
              <a:rPr lang="en">
                <a:solidFill>
                  <a:schemeClr val="dk1"/>
                </a:solidFill>
              </a:rPr>
              <a:t>There are no predefined categories or classes.</a:t>
            </a:r>
            <a:endParaRPr sz="1800">
              <a:solidFill>
                <a:srgbClr val="ADADAD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~20,000 gene features per sample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1800"/>
              <a:buAutoNum type="alphaLcPeriod"/>
            </a:pPr>
            <a:r>
              <a:rPr b="1" lang="en">
                <a:solidFill>
                  <a:schemeClr val="dk1"/>
                </a:solidFill>
              </a:rPr>
              <a:t>PCA</a:t>
            </a:r>
            <a:r>
              <a:rPr lang="en">
                <a:solidFill>
                  <a:schemeClr val="dk1"/>
                </a:solidFill>
              </a:rPr>
              <a:t> can be used to reduce this complexity while preserving structure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>
                <a:solidFill>
                  <a:schemeClr val="dk1"/>
                </a:solidFill>
              </a:rPr>
              <a:t>Perfect for techniques such as </a:t>
            </a:r>
            <a:r>
              <a:rPr b="1" lang="en">
                <a:solidFill>
                  <a:schemeClr val="dk1"/>
                </a:solidFill>
              </a:rPr>
              <a:t>clustering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b="1" lang="en">
                <a:solidFill>
                  <a:schemeClr val="dk1"/>
                </a:solidFill>
              </a:rPr>
              <a:t>dimensionality reduction</a:t>
            </a:r>
            <a:r>
              <a:rPr lang="en">
                <a:solidFill>
                  <a:schemeClr val="dk1"/>
                </a:solidFill>
              </a:rPr>
              <a:t>, and </a:t>
            </a:r>
            <a:r>
              <a:rPr b="1" lang="en">
                <a:solidFill>
                  <a:schemeClr val="dk1"/>
                </a:solidFill>
              </a:rPr>
              <a:t>pattern discovery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Breast cancer isn’t just one disease. There are actually multiple </a:t>
            </a:r>
            <a:r>
              <a:rPr b="1" lang="en">
                <a:solidFill>
                  <a:schemeClr val="dk1"/>
                </a:solidFill>
              </a:rPr>
              <a:t>molecular subtypes</a:t>
            </a:r>
            <a:r>
              <a:rPr lang="en">
                <a:solidFill>
                  <a:schemeClr val="dk1"/>
                </a:solidFill>
              </a:rPr>
              <a:t> (Luminal A, Luminal B, HER2, Basal, etc.)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>
                <a:solidFill>
                  <a:schemeClr val="dk1"/>
                </a:solidFill>
              </a:rPr>
              <a:t>These subtypes are </a:t>
            </a:r>
            <a:r>
              <a:rPr b="1" lang="en">
                <a:solidFill>
                  <a:schemeClr val="dk1"/>
                </a:solidFill>
              </a:rPr>
              <a:t>not obvious from raw expression alone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>
                <a:solidFill>
                  <a:schemeClr val="dk1"/>
                </a:solidFill>
              </a:rPr>
              <a:t>This is where unsupervised clustering comes in to uncover these patterns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b="1"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d4d1b48a7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d4d1b48a7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d4d1b48a7_0_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d4d1b48a7_0_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d4d1b48a7_0_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d4d1b48a7_0_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d4d1b48a7_0_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d4d1b48a7_0_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is the scatter plot produced. The 3 c</a:t>
            </a:r>
            <a:r>
              <a:rPr lang="en"/>
              <a:t>lusters suggest underlying biological subtypes. Biological subtypes are significant because they are genetically distinct forms of breast cancer that differ in their gene expression profiles and treatment methods.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d4d1b48a7_0_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d4d1b48a7_0_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d4d1b48a7_0_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d4d1b48a7_0_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d4d1b48a7_0_9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6d4d1b48a7_0_9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d4d1b48a7_0_9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6d4d1b48a7_0_9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d4d1b48a7_0_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6d4d1b48a7_0_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d4d1b48a7_0_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6d4d1b48a7_0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d4d1b48a7_0_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6d4d1b48a7_0_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d4d1b48a7_0_9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6d4d1b48a7_0_9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xenabrowser.net/datapages/?dataset=TCGA.BRCA.sampleMap%2FHiSeqV2&amp;host=https%3A%2F%2Ftcga.xenahubs.net&amp;removeHub=https%3A%2F%2Fxena.treehouse.gi.ucsc.edu%3A443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 flipH="1">
            <a:off x="311700" y="323900"/>
            <a:ext cx="8520600" cy="302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/>
              <a:t>Unsupervised Learning on TCGA BRCA Gene Expression Using PCA and KMeans</a:t>
            </a:r>
            <a:endParaRPr sz="30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585625"/>
            <a:ext cx="8520600" cy="11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800"/>
              <a:t>Steven Wood</a:t>
            </a:r>
            <a:endParaRPr sz="18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800"/>
              <a:t>Machine Learning for Biology</a:t>
            </a:r>
            <a:r>
              <a:rPr lang="en" sz="1800"/>
              <a:t> – </a:t>
            </a:r>
            <a:r>
              <a:rPr lang="en" sz="1800"/>
              <a:t>Final Project</a:t>
            </a:r>
            <a:endParaRPr sz="18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800"/>
              <a:t>Dr. Toby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</a:t>
            </a:r>
            <a:r>
              <a:rPr lang="en"/>
              <a:t>xplore structure in breast cancer gene expression using </a:t>
            </a:r>
            <a:r>
              <a:rPr b="1" lang="en" u="sng"/>
              <a:t>unsupervised learning</a:t>
            </a:r>
            <a:endParaRPr b="1" u="sng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Visualization which revealed the presence of biological subtypes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Methods used: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PCA (dimensionality reduction)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KMeans clustering (grouping similar samples)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Dataset: TCGA BRCA gene expression dataset (Illumina HiSeq RNA-Seq)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Cancer Genome Atlas Breast Invasive Carcinoma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Size: ~20,000 genes × 1,218 samples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this dataset?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Great for unsupervised learning because</a:t>
            </a:r>
            <a:r>
              <a:rPr lang="en"/>
              <a:t>: 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No labels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High Dimensionality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Biological Heterogeneity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Preprocessing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Due to memory constraints the first 1,000 genes were selected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Samples with missing values were removed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Values were standardized</a:t>
            </a:r>
            <a:r>
              <a:rPr lang="en"/>
              <a:t> using StandardScaler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</a:t>
            </a:r>
            <a:r>
              <a:rPr lang="en"/>
              <a:t>used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Principal Component Analysis (PCA) reduced the dataset from 1,000 components to 2 components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Allowed for 2D visualization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KMeans Clustering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Used k=3 to create 3 clusters based on similarity in gene expression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Tools and Libraries used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3.13.3 (Windows CMD)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Libraries: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Pandas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numpy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scikit-learn (PCA, KMeans)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Matplotlib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seaborn (visualization)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gzip (read compressed files)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Visualization: PCA + KMeans Clusters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20" title="Figure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600" y="1094150"/>
            <a:ext cx="7610799" cy="373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Reproducibility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Download dataset from UCSC Xena: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UCSC Xena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Open Windows CMD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Install libraries: pip install pandas numpy scikit-learn matplotlib seaborn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Open Python 3.13.3 in Windows CMD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Run Python script (adjust file path)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View PCA + KMeans plot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2" title="Screenshot 2025-07-04 1409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8259"/>
            <a:ext cx="9144000" cy="4886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3" title="Screenshot 2025-07-04 1409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2582"/>
            <a:ext cx="9144001" cy="4798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4" title="Screenshot 2025-07-04 1409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7347"/>
            <a:ext cx="9144001" cy="4788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Critiques</a:t>
            </a:r>
            <a:endParaRPr/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Strengths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Effective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Reproducible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Weaknesses: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KMeans assumes spherical clusters (biological data often is not spherical)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PCA has trouble with nonlinear patterns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the first 1,000 genes were used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Improvements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 most informative genes instead of just the first 1,000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 nonlinear methods such as: </a:t>
            </a:r>
            <a:r>
              <a:rPr lang="en"/>
              <a:t>t-SNE, UMAP, and DBSCAN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Unsupervised learning successfully and efficiently revealed structure in breast cancer samples.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clusters shown on the scatter plot suggest the presence of biological subtypes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148" name="Google Shape;148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